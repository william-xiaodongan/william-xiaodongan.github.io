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60F76E-B485-4A63-8CAC-AD2CA6216BD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2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9:32:39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6107 837 24575,'-11'-34'0,"0"0"0,-3 1 0,0 0 0,-2 2 0,-2-1 0,-1 2 0,-1 1 0,-26-30 0,-2 4 0,-3 2 0,-109-89 0,119 112 0,-1 2 0,-1 2 0,-1 2 0,-1 2 0,-1 1 0,-58-16 0,26 15 0,-1 3 0,-1 3 0,-88-5 0,19 15 0,-227 21 0,209-5 0,-286 46 0,108-8 0,197-32 0,2 7 0,-252 71 0,-494 246 0,365-83 0,447-210 0,-144 112 0,-51 80 0,138-117 0,12-22 0,-17 16 0,32-20 0,-80 77 0,177-161-1365,2-2-5461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9:32:40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1 24575,'-17'20'0,"0"2"0,2-1 0,0 2 0,2 0 0,-16 35 0,-8 14 0,-5 9 0,3 2 0,-41 123 0,26-72 0,54-134 0,0 1 0,0 0 0,0 0 0,0-1 0,0 1 0,0 0 0,0 0 0,0-1 0,1 1 0,-1 0 0,0 0 0,0-1 0,1 1 0,-1 0 0,1-1 0,-1 1 0,1 0 0,-1-1 0,1 1 0,-1-1 0,1 1 0,-1-1 0,1 1 0,0-1 0,-1 1 0,1-1 0,0 1 0,-1-1 0,1 0 0,0 0 0,-1 1 0,1-1 0,0 0 0,0 0 0,0 0 0,1 0 0,36 7 0,-30-7 0,84 12-117,123 15-507,255-1 0,-446-26-6202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9:34:14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14702 2020 24575,'-44'-60'0,"-2"1"0,-3 3 0,-2 1 0,-2 3 0,-90-67 0,-5 13 0,-169-92 0,-956-447 0,462 300 0,560 257 0,-346-75 0,439 138 0,-246-9 0,285 27 0,-806 0 0,922 7 0,-550 28 0,311-12 0,-224 20 0,-311 11 0,777-47 0,-747 24 0,390 10 0,-1051 111 0,831-40 0,9 39 0,329-81 0,138-34 0,1 5 0,-121 60 0,-178 113 0,123-32 0,-14 7 0,287-181 0,-483 251 0,387-196 0,64-35 0,-1-2 0,-40 16 0,-134 55 0,-4 2 0,141-64 0,1 2 0,-92 56 0,127-63 0,2 1 0,1 2 0,1 1 0,1 1 0,-55 66 0,28-21 0,4 2 0,-73 131 0,124-198-151,1 1-1,0 0 0,0 0 0,1 0 1,0 1-1,1-1 0,0 0 1,0 11-1,0 1-6674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9:34:16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24575,'5'101'0,"24"136"0,-3-40 0,0 88 0,-26-275 0,1 1 0,1-1 0,0 1 0,0-1 0,5 13 0,-6-21 0,0 0 0,0 0 0,-1-1 0,1 1 0,0 0 0,0-1 0,1 1 0,-1-1 0,0 1 0,0-1 0,1 0 0,-1 0 0,1 1 0,-1-1 0,1 0 0,-1 0 0,1 0 0,0-1 0,0 1 0,-1 0 0,1-1 0,0 1 0,0-1 0,0 1 0,0-1 0,-1 0 0,1 0 0,0 0 0,0 0 0,0 0 0,0 0 0,0 0 0,0-1 0,0 1 0,-1-1 0,3 0 0,35-14 0,63-32 0,-60 26 0,46-16 0,151-64 0,-199 90-1365,-22 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A1F0C-91A4-4060-BAE3-75ED85E0D975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9D752-DE6D-4768-9FFF-93BB34354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97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9D752-DE6D-4768-9FFF-93BB34354A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7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E8FD-0BB6-6B68-1015-14939BBA3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3962D-CCBB-9AE0-234B-048804F1D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C375E-BF42-7D31-3A7E-9BAB9D8D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04A1-4ABE-F53D-2370-AF17123E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A64EE-DED3-E914-2B59-CE351998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A774-C9C0-1700-2624-91949D89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0915-35B0-8FDD-1C55-79C95DECD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CE894-4F50-0799-EC93-FF6A9A4F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40B3A-18BE-FF70-78C9-21163F87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21140-D3BA-96C6-0319-7E0EBA5E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7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4F92-1D62-0B7C-1CBA-D1B8B97B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ED152-A229-30B8-AFDD-8467F83F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F2E9B-44AC-61B6-871D-4840D45B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71929-803A-CBA4-B9C1-A18A4E24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0F5BD-5FF8-EEF8-07A7-64DAB6C3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9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FEAE-6C84-72E8-5E47-EBC25177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24AE7-9BAA-FB3F-9F1B-503C91190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5A2F9-2F4D-F1D4-D7DA-EDF336782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7E734-4F61-A0F1-F760-C134008C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7F65D-AA11-C951-5987-4FF17257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79027-9AF6-6304-0F86-04564D8B3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6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7EAD-A912-9BA2-67AA-3BE1E245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D8141-94A8-548F-2E4C-AF55A430D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B71FA-6343-AFBD-993E-4726F3FE7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13B360-772D-27B4-E4CA-14521E49F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F8D70-AD9E-356D-5183-19F3BF926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17C50-8981-5608-2A06-277D7D04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285FE4-1FF8-C8A0-1786-BD1BFBEBB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ED855-1265-DEB2-A94E-33B9E24E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9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DFE3-82CF-5F91-15A6-5BC66283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D3FF7-F7CF-321B-E3AF-9D4A9725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5EC5B-D519-AC67-5419-FABE6F77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BA213-DB3E-30E4-2440-402A8CE7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3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754BE-8F16-A832-977F-D91B4D295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A2F4F-4185-A250-A207-595AF819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8B788-51BF-1C94-3AB0-B06B2917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1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3915-B223-1C7A-AFB2-C47DAC4D4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CF86C-7C46-B1BC-D3FB-82D92833C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23614-6104-0AB4-BE33-05EBB307E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17CE2-3A64-42E4-60A8-D303CBDA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A5B69-A931-EE31-0E07-990B2554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2CC92-CF1D-5E1A-5871-A6A0CB56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9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7D5A-4FFC-4D0B-30D0-E616B317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104FA-8877-DDC6-66DE-31EA2C7A4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0A79E-D589-1D14-BB75-DF3FF54ED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F63D-E360-A8F5-E728-66B80AE7A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1D462-71FF-F313-51A9-FE728BA6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E25BC-9155-B6CB-B2DE-DBE74E64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8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7507-6A9B-F38A-D296-E10C51F8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E016A-7AF4-DD66-01CE-CC112DFC0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A199E-E24B-DF7F-44D8-9DDA666E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C7FB8-00F7-9538-5FB7-7A65CA6A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9DBF4-67CD-C495-B8F0-12F24AF8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6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77A0B-9345-6980-CCC0-38966E696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FF4A1-F72E-186C-D3FC-849226E7D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26F35-6CD5-98B3-5150-B224D19F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CC4A7-E9EC-B31A-A989-80BAB437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7FE7C-12A6-ABC7-174A-CAD21CAF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0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B000F-F2CE-3449-E31E-B051309C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4B567-D030-43CC-979B-B9FC31D4D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2F6E3-CE83-7892-9184-601FE6833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B472F-7EC1-4FE4-BFA4-080C89A35AD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4981-9196-93D8-14B3-0E3589F7E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46E60-6050-ABEE-EECC-E0AA9A622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B6050-A938-4444-A22D-FEF85AB24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8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customXml" Target="../ink/ink2.xml"/><Relationship Id="rId5" Type="http://schemas.openxmlformats.org/officeDocument/2006/relationships/image" Target="../media/image3.png"/><Relationship Id="rId15" Type="http://schemas.openxmlformats.org/officeDocument/2006/relationships/customXml" Target="../ink/ink4.xml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openxmlformats.org/officeDocument/2006/relationships/customXml" Target="../ink/ink1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42C9-87DF-F70E-9A47-BD49F6F719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CodePDE</a:t>
            </a:r>
            <a:r>
              <a:rPr lang="en-US" dirty="0"/>
              <a:t>: An Inference Framework for LLM-driven PDE Solver Generation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684DD-ECA8-24CC-CD88-B64B0E802E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</a:t>
            </a:r>
            <a:r>
              <a:rPr lang="en-US" altLang="zh-CN" dirty="0"/>
              <a:t>ournal Club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13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B8B6-EF28-C504-3448-F1C1FFE7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9BC04-3297-267A-3DE7-15D4B62B8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Partial differential equations </a:t>
            </a:r>
            <a:r>
              <a:rPr lang="en-US" dirty="0"/>
              <a:t>(PDEs) are fundamental to modeling physical systems, yet solving them remains a complex challenge.</a:t>
            </a:r>
          </a:p>
          <a:p>
            <a:endParaRPr lang="en-US" dirty="0"/>
          </a:p>
          <a:p>
            <a:r>
              <a:rPr lang="en-US" dirty="0"/>
              <a:t>Traditional </a:t>
            </a:r>
            <a:r>
              <a:rPr lang="en-US" dirty="0">
                <a:solidFill>
                  <a:srgbClr val="FF0000"/>
                </a:solidFill>
              </a:rPr>
              <a:t>numerical solvers </a:t>
            </a:r>
            <a:r>
              <a:rPr lang="en-US" dirty="0"/>
              <a:t>rely on expert knowledge to implement and are computationally expensive, while </a:t>
            </a:r>
            <a:r>
              <a:rPr lang="en-US" dirty="0">
                <a:solidFill>
                  <a:srgbClr val="FF0000"/>
                </a:solidFill>
              </a:rPr>
              <a:t>neural-network-based solvers </a:t>
            </a:r>
            <a:r>
              <a:rPr lang="en-US" dirty="0"/>
              <a:t>require large training datasets and often lack interpretability.</a:t>
            </a:r>
          </a:p>
          <a:p>
            <a:endParaRPr lang="en-US" dirty="0"/>
          </a:p>
          <a:p>
            <a:r>
              <a:rPr lang="en-US" dirty="0"/>
              <a:t>Here it used a novel </a:t>
            </a:r>
            <a:r>
              <a:rPr lang="en-US" dirty="0">
                <a:solidFill>
                  <a:srgbClr val="FF0000"/>
                </a:solidFill>
              </a:rPr>
              <a:t>multi-agent LLM-driven </a:t>
            </a:r>
            <a:r>
              <a:rPr lang="en-US" dirty="0"/>
              <a:t>PDE solver.</a:t>
            </a:r>
          </a:p>
        </p:txBody>
      </p:sp>
    </p:spTree>
    <p:extLst>
      <p:ext uri="{BB962C8B-B14F-4D97-AF65-F5344CB8AC3E}">
        <p14:creationId xmlns:p14="http://schemas.microsoft.com/office/powerpoint/2010/main" val="247394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2CB-F3A2-BF80-4376-18E08763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Existing LLM PDE solver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F790-7FCC-8828-9B0E-DDAD1B93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CodePDE</a:t>
            </a:r>
            <a:r>
              <a:rPr lang="en-US" dirty="0"/>
              <a:t>: multi-agent LLM-driven PDE solver</a:t>
            </a:r>
          </a:p>
          <a:p>
            <a:r>
              <a:rPr lang="en-US" dirty="0" err="1">
                <a:solidFill>
                  <a:srgbClr val="FF0000"/>
                </a:solidFill>
              </a:rPr>
              <a:t>OpInf</a:t>
            </a:r>
            <a:r>
              <a:rPr lang="en-US" dirty="0">
                <a:solidFill>
                  <a:srgbClr val="FF0000"/>
                </a:solidFill>
              </a:rPr>
              <a:t>-LLM</a:t>
            </a:r>
            <a:r>
              <a:rPr lang="en-US" dirty="0"/>
              <a:t>: data driven method (Operator Inference) combined with LLM.</a:t>
            </a:r>
          </a:p>
          <a:p>
            <a:r>
              <a:rPr lang="en-US" dirty="0">
                <a:solidFill>
                  <a:srgbClr val="FF0000"/>
                </a:solidFill>
              </a:rPr>
              <a:t>MCP-SIM</a:t>
            </a:r>
            <a:r>
              <a:rPr lang="en-US" dirty="0"/>
              <a:t>: A self-correcting multi-agent LLM framework for physics simulation.</a:t>
            </a:r>
          </a:p>
          <a:p>
            <a:r>
              <a:rPr lang="en-US" dirty="0" err="1">
                <a:solidFill>
                  <a:srgbClr val="FF0000"/>
                </a:solidFill>
              </a:rPr>
              <a:t>PINNsAgent</a:t>
            </a:r>
            <a:r>
              <a:rPr lang="en-US" dirty="0"/>
              <a:t>: Physics Neural Network combined with LLM.</a:t>
            </a:r>
          </a:p>
        </p:txBody>
      </p:sp>
    </p:spTree>
    <p:extLst>
      <p:ext uri="{BB962C8B-B14F-4D97-AF65-F5344CB8AC3E}">
        <p14:creationId xmlns:p14="http://schemas.microsoft.com/office/powerpoint/2010/main" val="178999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7644-5573-DCAB-B0FF-1B9AA220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zh-CN" dirty="0"/>
              <a:t>ethods – Multi-Agent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FD31E-6173-DC58-9D0C-6C5E86E9D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 only prompt: Given PDE… and Initial condition…, solve it… . Try to avoid bugs… Return the final solution as csv…</a:t>
            </a:r>
          </a:p>
          <a:p>
            <a:r>
              <a:rPr lang="en-US" dirty="0"/>
              <a:t>LLM with multi agent: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826BDF-35CF-8DDA-6472-D608AD5E193E}"/>
              </a:ext>
            </a:extLst>
          </p:cNvPr>
          <p:cNvSpPr txBox="1"/>
          <p:nvPr/>
        </p:nvSpPr>
        <p:spPr>
          <a:xfrm flipH="1">
            <a:off x="3381031" y="3252866"/>
            <a:ext cx="6362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prompt: You are an intelligent AI researcher for coding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A0734-336E-9D4F-B6A0-2C36481F6074}"/>
              </a:ext>
            </a:extLst>
          </p:cNvPr>
          <p:cNvSpPr txBox="1"/>
          <p:nvPr/>
        </p:nvSpPr>
        <p:spPr>
          <a:xfrm>
            <a:off x="0" y="4179011"/>
            <a:ext cx="2280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PDE_description.py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48FD45-0428-1DDF-DCEC-D9845FBE0C10}"/>
              </a:ext>
            </a:extLst>
          </p:cNvPr>
          <p:cNvCxnSpPr>
            <a:cxnSpLocks/>
          </p:cNvCxnSpPr>
          <p:nvPr/>
        </p:nvCxnSpPr>
        <p:spPr>
          <a:xfrm>
            <a:off x="2086794" y="4363677"/>
            <a:ext cx="671396" cy="253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D5106F-FBF0-6B68-B8E7-F1A53197283C}"/>
              </a:ext>
            </a:extLst>
          </p:cNvPr>
          <p:cNvCxnSpPr>
            <a:cxnSpLocks/>
          </p:cNvCxnSpPr>
          <p:nvPr/>
        </p:nvCxnSpPr>
        <p:spPr>
          <a:xfrm flipH="1">
            <a:off x="3612630" y="3631384"/>
            <a:ext cx="1173240" cy="507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69FD5B9-0CB0-C172-5BC1-F78717E80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346" y="4273989"/>
            <a:ext cx="1714739" cy="17337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1C7E7A-9B08-9AC6-9F1A-ACA066174A73}"/>
              </a:ext>
            </a:extLst>
          </p:cNvPr>
          <p:cNvSpPr txBox="1"/>
          <p:nvPr/>
        </p:nvSpPr>
        <p:spPr>
          <a:xfrm>
            <a:off x="76810" y="5003630"/>
            <a:ext cx="2192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r>
              <a:rPr lang="en-US" altLang="zh-CN" dirty="0"/>
              <a:t>olver_template.py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BC3D77-2D00-CB5A-3A51-3F2F0C80AC1D}"/>
              </a:ext>
            </a:extLst>
          </p:cNvPr>
          <p:cNvCxnSpPr>
            <a:cxnSpLocks/>
          </p:cNvCxnSpPr>
          <p:nvPr/>
        </p:nvCxnSpPr>
        <p:spPr>
          <a:xfrm flipV="1">
            <a:off x="2086794" y="4770239"/>
            <a:ext cx="774552" cy="3706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emini google icon symbol logo 55687065 PNG">
            <a:extLst>
              <a:ext uri="{FF2B5EF4-FFF2-40B4-BE49-F238E27FC236}">
                <a16:creationId xmlns:a16="http://schemas.microsoft.com/office/drawing/2014/main" id="{900D1D1F-6BA2-4555-8D88-EECF8D2A5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449" y="6078511"/>
            <a:ext cx="655012" cy="65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FAF047-AB0C-84E5-AB4E-09CA8F0D1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124" y="6078511"/>
            <a:ext cx="655012" cy="65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atGPT Logo - Chat gpt Icon on Green ...">
            <a:extLst>
              <a:ext uri="{FF2B5EF4-FFF2-40B4-BE49-F238E27FC236}">
                <a16:creationId xmlns:a16="http://schemas.microsoft.com/office/drawing/2014/main" id="{77E42EB3-D091-8788-8894-A9A6B997A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661" y="6099795"/>
            <a:ext cx="591661" cy="59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DFEFE0-57CB-FED6-AA98-AB14DC5C9CD3}"/>
              </a:ext>
            </a:extLst>
          </p:cNvPr>
          <p:cNvCxnSpPr>
            <a:cxnSpLocks/>
          </p:cNvCxnSpPr>
          <p:nvPr/>
        </p:nvCxnSpPr>
        <p:spPr>
          <a:xfrm>
            <a:off x="4521481" y="4931905"/>
            <a:ext cx="52877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4552E84-F5DD-73FB-9B5C-DBEBDA555506}"/>
              </a:ext>
            </a:extLst>
          </p:cNvPr>
          <p:cNvSpPr txBox="1"/>
          <p:nvPr/>
        </p:nvSpPr>
        <p:spPr>
          <a:xfrm>
            <a:off x="5050259" y="4747239"/>
            <a:ext cx="2280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PDE_solver.py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E0EE8F-E916-0178-9DA5-4264D53B0D22}"/>
              </a:ext>
            </a:extLst>
          </p:cNvPr>
          <p:cNvCxnSpPr>
            <a:cxnSpLocks/>
          </p:cNvCxnSpPr>
          <p:nvPr/>
        </p:nvCxnSpPr>
        <p:spPr>
          <a:xfrm>
            <a:off x="6637592" y="4931905"/>
            <a:ext cx="108234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335B9A7-6082-2D3A-800F-9B8DC43AD381}"/>
              </a:ext>
            </a:extLst>
          </p:cNvPr>
          <p:cNvSpPr txBox="1"/>
          <p:nvPr/>
        </p:nvSpPr>
        <p:spPr>
          <a:xfrm>
            <a:off x="6746646" y="4548343"/>
            <a:ext cx="2280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Run it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1C074F9-8CF5-8F0A-AD7D-A7301080F9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4447" y="4265470"/>
            <a:ext cx="1204854" cy="1332869"/>
          </a:xfrm>
          <a:prstGeom prst="rect">
            <a:avLst/>
          </a:prstGeom>
        </p:spPr>
      </p:pic>
      <p:pic>
        <p:nvPicPr>
          <p:cNvPr id="32" name="Picture 2" descr="gemini google icon symbol logo 55687065 PNG">
            <a:extLst>
              <a:ext uri="{FF2B5EF4-FFF2-40B4-BE49-F238E27FC236}">
                <a16:creationId xmlns:a16="http://schemas.microsoft.com/office/drawing/2014/main" id="{7EE00320-91F1-E762-C9B6-AE7689134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200" y="5947344"/>
            <a:ext cx="655012" cy="65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A07AC14F-F334-71E8-6006-51EF58296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875" y="5947344"/>
            <a:ext cx="655012" cy="65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ChatGPT Logo - Chat gpt Icon on Green ...">
            <a:extLst>
              <a:ext uri="{FF2B5EF4-FFF2-40B4-BE49-F238E27FC236}">
                <a16:creationId xmlns:a16="http://schemas.microsoft.com/office/drawing/2014/main" id="{C6A19833-BD5C-ABB5-EA21-BE27D53CA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412" y="5968628"/>
            <a:ext cx="591661" cy="59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F99B3DD-425B-9206-9A35-86C662E649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4508" y="4273958"/>
            <a:ext cx="1511036" cy="1392986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AB93B3F-57E8-AAA7-4D83-C35EEB200C28}"/>
              </a:ext>
            </a:extLst>
          </p:cNvPr>
          <p:cNvCxnSpPr>
            <a:cxnSpLocks/>
          </p:cNvCxnSpPr>
          <p:nvPr/>
        </p:nvCxnSpPr>
        <p:spPr>
          <a:xfrm>
            <a:off x="8905902" y="4935716"/>
            <a:ext cx="43297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679A26A-358F-7E8E-E66B-148F151A9753}"/>
              </a:ext>
            </a:extLst>
          </p:cNvPr>
          <p:cNvSpPr txBox="1"/>
          <p:nvPr/>
        </p:nvSpPr>
        <p:spPr>
          <a:xfrm>
            <a:off x="9268617" y="4647285"/>
            <a:ext cx="2280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Solver.py</a:t>
            </a:r>
          </a:p>
          <a:p>
            <a:r>
              <a:rPr lang="en-US" dirty="0" err="1"/>
              <a:t>nRMSE</a:t>
            </a:r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CC6BFC6-0808-090D-0A67-A411C5BB2033}"/>
              </a:ext>
            </a:extLst>
          </p:cNvPr>
          <p:cNvCxnSpPr>
            <a:cxnSpLocks/>
          </p:cNvCxnSpPr>
          <p:nvPr/>
        </p:nvCxnSpPr>
        <p:spPr>
          <a:xfrm>
            <a:off x="10341394" y="4970450"/>
            <a:ext cx="43297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F9DD27E-DEB5-1E94-53E1-A3E48497F802}"/>
              </a:ext>
            </a:extLst>
          </p:cNvPr>
          <p:cNvGrpSpPr/>
          <p:nvPr/>
        </p:nvGrpSpPr>
        <p:grpSpPr>
          <a:xfrm>
            <a:off x="5726119" y="3612458"/>
            <a:ext cx="5382000" cy="1080000"/>
            <a:chOff x="5726119" y="3612458"/>
            <a:chExt cx="5382000" cy="10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E40D69-40E3-C97E-F246-AA0C1A55C2E3}"/>
                    </a:ext>
                  </a:extLst>
                </p14:cNvPr>
                <p14:cNvContentPartPr/>
                <p14:nvPr/>
              </p14:nvContentPartPr>
              <p14:xfrm>
                <a:off x="6166039" y="3926018"/>
                <a:ext cx="2198520" cy="695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E40D69-40E3-C97E-F246-AA0C1A55C2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57399" y="3917018"/>
                  <a:ext cx="221616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E167FE-A226-8EA4-86C8-AB1B301F2112}"/>
                    </a:ext>
                  </a:extLst>
                </p14:cNvPr>
                <p14:cNvContentPartPr/>
                <p14:nvPr/>
              </p14:nvContentPartPr>
              <p14:xfrm>
                <a:off x="6069199" y="4391858"/>
                <a:ext cx="311760" cy="300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E167FE-A226-8EA4-86C8-AB1B301F21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60559" y="4383218"/>
                  <a:ext cx="3294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69BC8E-3BF9-208B-6844-0A7FA107AEEF}"/>
                    </a:ext>
                  </a:extLst>
                </p14:cNvPr>
                <p14:cNvContentPartPr/>
                <p14:nvPr/>
              </p14:nvContentPartPr>
              <p14:xfrm>
                <a:off x="5815039" y="3612458"/>
                <a:ext cx="5293080" cy="994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69BC8E-3BF9-208B-6844-0A7FA107AEE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06039" y="3603818"/>
                  <a:ext cx="5310720" cy="10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8A9D3F7-3B43-68BE-78DD-553EDF59DD3A}"/>
                    </a:ext>
                  </a:extLst>
                </p14:cNvPr>
                <p14:cNvContentPartPr/>
                <p14:nvPr/>
              </p14:nvContentPartPr>
              <p14:xfrm>
                <a:off x="5726119" y="4316978"/>
                <a:ext cx="261720" cy="333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8A9D3F7-3B43-68BE-78DD-553EDF59DD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17119" y="4307978"/>
                  <a:ext cx="279360" cy="351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6" name="Picture 2" descr="gemini google icon symbol logo 55687065 PNG">
            <a:extLst>
              <a:ext uri="{FF2B5EF4-FFF2-40B4-BE49-F238E27FC236}">
                <a16:creationId xmlns:a16="http://schemas.microsoft.com/office/drawing/2014/main" id="{EF0AA6AD-2628-5FB9-913A-7D10D8873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317" y="5900102"/>
            <a:ext cx="655012" cy="65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>
            <a:extLst>
              <a:ext uri="{FF2B5EF4-FFF2-40B4-BE49-F238E27FC236}">
                <a16:creationId xmlns:a16="http://schemas.microsoft.com/office/drawing/2014/main" id="{813EAA2C-C862-ACE0-B64D-DD714EFCC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0992" y="5900102"/>
            <a:ext cx="655012" cy="65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8" descr="ChatGPT Logo - Chat gpt Icon on Green ...">
            <a:extLst>
              <a:ext uri="{FF2B5EF4-FFF2-40B4-BE49-F238E27FC236}">
                <a16:creationId xmlns:a16="http://schemas.microsoft.com/office/drawing/2014/main" id="{778FE52E-DA03-12BF-4F23-1D5B25F11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529" y="5921386"/>
            <a:ext cx="591661" cy="59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17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9207-1A88-6E3D-BE35-9208D1BE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– system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9FB1B-17CF-E223-55A7-7A27FB4F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CC01DD-7A0A-A6D1-A2BA-149286AFD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228" y="1819765"/>
            <a:ext cx="9316750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7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7604-28D1-23FF-C478-E450ABF5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– </a:t>
            </a:r>
            <a:r>
              <a:rPr lang="en-US" dirty="0" err="1"/>
              <a:t>pde</a:t>
            </a:r>
            <a:r>
              <a:rPr lang="en-US" dirty="0"/>
              <a:t> description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99AB-AFEC-7433-75D2-CFD598FA6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34" y="1810635"/>
            <a:ext cx="10515600" cy="4351338"/>
          </a:xfrm>
        </p:spPr>
        <p:txBody>
          <a:bodyPr/>
          <a:lstStyle/>
          <a:p>
            <a:r>
              <a:rPr lang="en-US" dirty="0"/>
              <a:t>In Latex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AC149-CBAF-8D2F-2528-0D41CB95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30" y="1513329"/>
            <a:ext cx="7027607" cy="1643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A4361C-E2C5-EF21-83FC-0D9FBAB48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95" y="3156813"/>
            <a:ext cx="6506522" cy="347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8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B977-53D5-9486-A952-C32F92FD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– solver template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45BF5-6698-E36C-BBA7-4671D6964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A13B9-9363-D4FF-B7FD-980D4CFA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42" y="1690688"/>
            <a:ext cx="8659433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42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FE75-8AE7-55B1-06C1-CC87CC06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– debug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4948-81A5-B234-3178-B4323854A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D52E5C-0B8C-EEAC-CBC8-E97DFA61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1963071"/>
            <a:ext cx="9373908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25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BB2D-D7A3-BC4B-534B-539A8C0B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– refinement prompt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E53881-FE89-4ADF-CB01-E57A5D3A4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5799" y="1585782"/>
            <a:ext cx="5601177" cy="515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4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A1F2-DEFD-DB41-B984-0E83A514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data – </a:t>
            </a:r>
            <a:r>
              <a:rPr lang="en-US" dirty="0" err="1"/>
              <a:t>PDEbench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F0E4-5706-5F32-3D5A-3740E19F0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110"/>
            <a:ext cx="10515600" cy="4351338"/>
          </a:xfrm>
        </p:spPr>
        <p:txBody>
          <a:bodyPr/>
          <a:lstStyle/>
          <a:p>
            <a:r>
              <a:rPr lang="en-US" dirty="0"/>
              <a:t>A benchmark designed to evaluate how well machine learning models can solve or predict PDEs.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EB42F-D221-40A5-B79E-F34CC82E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361" y="2953065"/>
            <a:ext cx="8658148" cy="377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32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9B97-5535-F554-F6CC-EC2FB71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- </a:t>
            </a:r>
            <a:r>
              <a:rPr lang="en-US" dirty="0" err="1"/>
              <a:t>nRMSE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BE74-4D75-6411-FD83-DAAFF0984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S: number of PDE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6FBBB-95F7-6762-50EF-627A76A5E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109" y="0"/>
            <a:ext cx="580483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22B954-BF08-1A57-48DA-4C77921D2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01" y="1623259"/>
            <a:ext cx="5430008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1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EC4C-B639-2660-CF4E-1DF01AA2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bug-free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0ECFE-AB92-19D1-F36F-43D70755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Bug-free rates tested across 32 independent trails of LLM coding.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F4068-B84A-8B78-2CC6-4991912D5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2560117"/>
            <a:ext cx="10097909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0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1177-9B59-59C0-4A0D-C17C8F4A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test time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180C0-2C3B-1BE8-1358-849E0511D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time scaling tested across 32 independent trails of LLM coding.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50B640-76B0-B551-8D23-9D59E855B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0939"/>
            <a:ext cx="12192000" cy="356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94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0673-9232-5F3B-337D-02B47380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Convergence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2C72A-9627-FD4C-E02C-96E5F1512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solver is considered convergent if the </a:t>
            </a:r>
            <a:r>
              <a:rPr lang="en-US" dirty="0" err="1"/>
              <a:t>nRMSE</a:t>
            </a:r>
            <a:r>
              <a:rPr lang="en-US" dirty="0"/>
              <a:t> decreases as the grid is refined. The author defined four level: fail (no convergence or very slow convergence), order 1 2 3 (faster convergence)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DBD6F-CAEC-E4D2-8FAF-37354CB58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9282"/>
            <a:ext cx="12192000" cy="280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37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48B9-CC84-AD3B-130A-906D7B24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Ablation test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F2CB4-894F-E320-804C-1F8CB9336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Ablation test: testing performance if deleting some parts of the framework. (scale means multiple times trails of LLM coding)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3C08B-8C6C-36CF-6CDC-A06E668BA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1336"/>
            <a:ext cx="12192000" cy="403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03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304A-92FE-FBF5-84D9-8C334461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Integration schemes employed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8132FD-0AF3-047A-9A56-36767FEC6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2845" y="1780655"/>
            <a:ext cx="6532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1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177C-A810-DFDC-7293-C7B8809B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– Code Execution 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DC7E-9737-69E3-CBAC-0CE925A5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17236" cy="4351338"/>
          </a:xfrm>
        </p:spPr>
        <p:txBody>
          <a:bodyPr/>
          <a:lstStyle/>
          <a:p>
            <a:r>
              <a:rPr lang="en-US" dirty="0"/>
              <a:t>Running time of </a:t>
            </a:r>
            <a:r>
              <a:rPr lang="en-US" dirty="0" err="1"/>
              <a:t>pde</a:t>
            </a:r>
            <a:r>
              <a:rPr lang="en-US" dirty="0"/>
              <a:t> solver, not including the time to generate LLM responses.</a:t>
            </a:r>
          </a:p>
          <a:p>
            <a:r>
              <a:rPr lang="en-US" dirty="0"/>
              <a:t>Running time on 100 instances for a specific </a:t>
            </a:r>
            <a:r>
              <a:rPr lang="en-US" dirty="0" err="1"/>
              <a:t>pde</a:t>
            </a:r>
            <a:r>
              <a:rPr lang="en-US" dirty="0"/>
              <a:t> family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39551-1271-B97C-6CAB-2B57D0A75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34" y="-74950"/>
            <a:ext cx="51758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05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83AA-248B-41EF-9D42-734BD0A5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B6AC-556F-7B9C-0F82-6FEC8A65B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3140"/>
            <a:ext cx="10515600" cy="4351338"/>
          </a:xfrm>
        </p:spPr>
        <p:txBody>
          <a:bodyPr/>
          <a:lstStyle/>
          <a:p>
            <a:r>
              <a:rPr lang="en-US" dirty="0"/>
              <a:t>A structured inference framework with the combination of automated debugging, refinement, and test-time scaling is essential to solve PDEs with LLM.</a:t>
            </a:r>
          </a:p>
          <a:p>
            <a:endParaRPr lang="en-US" dirty="0"/>
          </a:p>
          <a:p>
            <a:r>
              <a:rPr lang="en-US" dirty="0"/>
              <a:t>Pure </a:t>
            </a:r>
            <a:r>
              <a:rPr lang="en-US" dirty="0">
                <a:solidFill>
                  <a:srgbClr val="FF0000"/>
                </a:solidFill>
              </a:rPr>
              <a:t>prompt engineering</a:t>
            </a:r>
            <a:r>
              <a:rPr lang="en-US" dirty="0"/>
              <a:t> to generate reliable PDE solver is enough, without requiring any post or pre </a:t>
            </a:r>
            <a:r>
              <a:rPr lang="en-US" dirty="0">
                <a:solidFill>
                  <a:srgbClr val="FF0000"/>
                </a:solidFill>
              </a:rPr>
              <a:t>training</a:t>
            </a:r>
            <a:r>
              <a:rPr lang="en-US" dirty="0"/>
              <a:t> of LLM.</a:t>
            </a:r>
          </a:p>
        </p:txBody>
      </p:sp>
    </p:spTree>
    <p:extLst>
      <p:ext uri="{BB962C8B-B14F-4D97-AF65-F5344CB8AC3E}">
        <p14:creationId xmlns:p14="http://schemas.microsoft.com/office/powerpoint/2010/main" val="107607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4">
      <a:majorFont>
        <a:latin typeface="Times New Roman"/>
        <a:ea typeface="Times New Roman"/>
        <a:cs typeface=""/>
      </a:majorFont>
      <a:minorFont>
        <a:latin typeface="Times New Roman"/>
        <a:ea typeface="Times New Rom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420</Words>
  <Application>Microsoft Office PowerPoint</Application>
  <PresentationFormat>Widescreen</PresentationFormat>
  <Paragraphs>52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Times New Roman</vt:lpstr>
      <vt:lpstr>Office Theme</vt:lpstr>
      <vt:lpstr>CodePDE: An Inference Framework for LLM-driven PDE Solver Generation </vt:lpstr>
      <vt:lpstr>Introduction</vt:lpstr>
      <vt:lpstr>Introduction – Existing LLM PDE solver</vt:lpstr>
      <vt:lpstr>Methods – Multi-Agent</vt:lpstr>
      <vt:lpstr>Methods – system prompt</vt:lpstr>
      <vt:lpstr>Methods – pde description prompt</vt:lpstr>
      <vt:lpstr>Methods – solver template prompt</vt:lpstr>
      <vt:lpstr>Methods – debug prompt</vt:lpstr>
      <vt:lpstr>Methods – refinement prompt</vt:lpstr>
      <vt:lpstr>Evaluation data – PDEbench</vt:lpstr>
      <vt:lpstr>Result - nRMSE</vt:lpstr>
      <vt:lpstr>Result – bug-free rate</vt:lpstr>
      <vt:lpstr>Result – test time scaling</vt:lpstr>
      <vt:lpstr>Result – Convergence rate</vt:lpstr>
      <vt:lpstr>Result – Ablation test </vt:lpstr>
      <vt:lpstr>Result – Integration schemes employed </vt:lpstr>
      <vt:lpstr>Result – Code Execution t </vt:lpstr>
      <vt:lpstr>Conclusion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An, Xiaodong</dc:creator>
  <cp:lastModifiedBy>An, Xiaodong</cp:lastModifiedBy>
  <cp:revision>1</cp:revision>
  <dcterms:created xsi:type="dcterms:W3CDTF">2026-04-23T19:07:32Z</dcterms:created>
  <dcterms:modified xsi:type="dcterms:W3CDTF">2026-04-23T20:16:22Z</dcterms:modified>
</cp:coreProperties>
</file>